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Say what it is before saying why it should exist.</a:t>
            </a:r>
          </a:p>
          <a:p/>
          <a:p>
            <a:r>
              <a:t>"This is a compliance agent for public tenders. You give it the buyer's</a:t>
            </a:r>
          </a:p>
          <a:p>
            <a:r>
              <a:t>consultation file and the list of papers your company holds, and it tells you</a:t>
            </a:r>
          </a:p>
          <a:p>
            <a:r>
              <a:t>what is missing, what expires too soon, and what a human still has to look at."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Thirty-five seconds. The quotation is the strongest thing on the slide because</a:t>
            </a:r>
          </a:p>
          <a:p>
            <a:r>
              <a:t>it is not your claim — it is the buyer's own wording, in the file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Say the rule slowly. It is the thesis of the whole submission</a:t>
            </a:r>
          </a:p>
          <a:p>
            <a:r>
              <a:t>and every later beat exists to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Do not read the table aloud line by line — it reads itself.</a:t>
            </a:r>
          </a:p>
          <a:p>
            <a:r>
              <a:t>Spend the words on the two piles, which is the part nobody expects.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Twenty-five seconds. The last sentence buys more credibility than anything else</a:t>
            </a:r>
          </a:p>
          <a:p>
            <a:r>
              <a:t>in the video. Say it, and do not hurry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-X utf8 -m tender_compliance samples/real_dce/rc_2026SDCRH05.pdf \</a:t>
            </a:r>
          </a:p>
          <a:p>
            <a:r>
              <a:t>    --pages 5-6 --today 2026-08-23 --html out/dgac.html</a:t>
            </a:r>
          </a:p>
          <a:p/>
          <a:p>
            <a:r>
              <a:t>Talk over the run. Then open out/dgac.html, stop talking, and let them read the</a:t>
            </a:r>
          </a:p>
          <a:p>
            <a:r>
              <a:t>'-9 d' row. Then one sentence: the requirement stays French because the tender</a:t>
            </a:r>
          </a:p>
          <a:p>
            <a:r>
              <a:t>is French and the code checks the quotation against the page it cites — the</a:t>
            </a:r>
          </a:p>
          <a:p>
            <a:r>
              <a:t>English sits beside it, never instead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-X utf8 -m tender_compliance samples/real_dce/itt_EP_COMM_2026.pdf \</a:t>
            </a:r>
          </a:p>
          <a:p>
            <a:r>
              <a:t>    --today 2026-08-23</a:t>
            </a:r>
          </a:p>
          <a:p/>
          <a:p>
            <a:r>
              <a:t>35 s on 2026-09-04, which gave 39 requirements, 8 covered, 31 fatal. READ THE</a:t>
            </a:r>
          </a:p>
          <a:p>
            <a:r>
              <a:t>BANNER OFF THE SCREEN — the count moves on every run. Then point at what is NOT</a:t>
            </a:r>
          </a:p>
          <a:p>
            <a:r>
              <a:t>there: no translation lines anywhere. The tool worked out that this document</a:t>
            </a:r>
          </a:p>
          <a:p>
            <a:r>
              <a:t>does not need 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Twenty-five seconds. If ANTAI is not in your take, drop its line and keep the</a:t>
            </a:r>
          </a:p>
          <a:p>
            <a:r>
              <a:t>other two. The EFSA one is the most surprising and the cheapest to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Thirty-five seconds, over the diagram.</a:t>
            </a:r>
          </a:p>
          <a:p/>
          <a:p>
            <a:r>
              <a:t>"Two bands. The model proposes on top, twice — the obligations in the text, then</a:t>
            </a:r>
          </a:p>
          <a:p>
            <a:r>
              <a:t>which document might answer each one. It decides nothing. Everything below is</a:t>
            </a:r>
          </a:p>
          <a:p>
            <a:r>
              <a:t>deterministic. A quote that is not on the page it cites is rejected, with a</a:t>
            </a:r>
          </a:p>
          <a:p>
            <a:r>
              <a:t>reason. A document that is not in the library, verbatim, is not a match. Dates</a:t>
            </a:r>
          </a:p>
          <a:p>
            <a:r>
              <a:t>and thresholds are arithmetic and never reach the model at 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judging criterion 1 directly. If you have ten seconds spare,</a:t>
            </a:r>
          </a:p>
          <a:p>
            <a:r>
              <a:t>add the line that shows the discipline is real rather than claimed:</a:t>
            </a:r>
          </a:p>
          <a:p/>
          <a:p>
            <a:r>
              <a:t>"The English translation is the one thing on the page a model wrote and nothing</a:t>
            </a:r>
          </a:p>
          <a:p>
            <a:r>
              <a:t>verified — so it is the one thing that decides nothing."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Saying plainly what it does not do reads as confidence, not as</a:t>
            </a:r>
          </a:p>
          <a:p>
            <a:r>
              <a:t>a caveat. Do not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This is the first slide to cut if you are over time — it is in</a:t>
            </a:r>
          </a:p>
          <a:p>
            <a:r>
              <a:t>the Devpost text and in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Leave the URL on screen for a beat after you stop talking, then</a:t>
            </a:r>
          </a:p>
          <a:p>
            <a:r>
              <a:t>end. Do not add a thank-you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286000"/>
            <a:ext cx="146304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Tender Compliance Agent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300" b="0">
                <a:solidFill>
                  <a:srgbClr val="C9D6E8"/>
                </a:solidFill>
                <a:latin typeface="Georgia"/>
              </a:rPr>
              <a:t>Public bids are rejected on paperwork before anyone reads them.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300" b="0">
                <a:solidFill>
                  <a:srgbClr val="C9D6E8"/>
                </a:solidFill>
                <a:latin typeface="Georgia"/>
              </a:rPr>
              <a:t>This agent finds the gaps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532120"/>
            <a:ext cx="104543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spc="160">
                <a:solidFill>
                  <a:srgbClr val="5B6880"/>
                </a:solidFill>
                <a:latin typeface="Segoe UI"/>
              </a:rPr>
              <a:t>AGENTS FOR HUMANS  ·  PROFESSIONAL AGENTS TRACK  ·  BUILT WITH THE STRANDS AGENTS SDK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960120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16152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4203A"/>
                </a:solidFill>
                <a:latin typeface="Segoe UI"/>
              </a:rPr>
              <a:t>A bid dies on the paperwork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4600" b="1">
                <a:solidFill>
                  <a:srgbClr val="14203A"/>
                </a:solidFill>
                <a:latin typeface="Segoe UI"/>
              </a:rPr>
              <a:t>€100 bn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>
                <a:solidFill>
                  <a:srgbClr val="5B6880"/>
                </a:solidFill>
                <a:latin typeface="Segoe UI"/>
              </a:rPr>
              <a:t>of French public contracts a year, roughly — and a bid can be thrown out before anyone reads it. Not on price. Not on technique. Because an attestation expired three days before the deadline, or a form was missing.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2011679"/>
            <a:ext cx="4937760" cy="2148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C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423160"/>
            <a:ext cx="42062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600" b="0">
                <a:solidFill>
                  <a:srgbClr val="14203A"/>
                </a:solidFill>
                <a:latin typeface="Georgia"/>
              </a:rPr>
              <a:t>« Les candidatures incomplètes ou demeurées incomplètes à la suite d'une demande de compléments sont éliminées. »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spc="120">
                <a:solidFill>
                  <a:srgbClr val="A8243B"/>
                </a:solidFill>
                <a:latin typeface="Segoe UI"/>
              </a:rPr>
              <a:t>RÈGLEMENT DE LA CONSULTATION — ANTAI, ARTICLE IV.9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57800"/>
            <a:ext cx="104543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>
                <a:solidFill>
                  <a:srgbClr val="14203A"/>
                </a:solidFill>
                <a:latin typeface="Segoe UI"/>
              </a:rPr>
              <a:t>The buyer has that checklist. The bidder does not.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5B6880"/>
                </a:solidFill>
                <a:latin typeface="Segoe UI"/>
              </a:rPr>
              <a:t>A small firm without a bid office is assembling forty documents across several open tenders, from a folder nobody has re-read since the last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960120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16152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4203A"/>
                </a:solidFill>
                <a:latin typeface="Segoe UI"/>
              </a:rPr>
              <a:t>A Professional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900" b="0">
                <a:solidFill>
                  <a:srgbClr val="14203A"/>
                </a:solidFill>
                <a:latin typeface="Segoe UI"/>
              </a:rPr>
              <a:t>It does one job inside somebody's working day: the person assembling a bid, before they submit it.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5B6880"/>
                </a:solidFill>
                <a:latin typeface="Segoe UI"/>
              </a:rPr>
              <a:t>Not an assistant, and it does not chat. It reads a document, checks claims against it, and produces a compliance matrix — the artefact a bid manager would build by hand over an afternoon, if they had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069080"/>
            <a:ext cx="10454335" cy="1417320"/>
          </a:xfrm>
          <a:prstGeom prst="rect">
            <a:avLst/>
          </a:prstGeom>
          <a:solidFill>
            <a:srgbClr val="14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480560"/>
            <a:ext cx="1045433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The model observes.  The code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715000"/>
            <a:ext cx="104543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B6880"/>
                </a:solidFill>
                <a:latin typeface="Segoe UI"/>
              </a:rPr>
              <a:t>Everything after this slide is a proof of that one sentence.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960120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16152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4203A"/>
                </a:solidFill>
                <a:latin typeface="Segoe UI"/>
              </a:rPr>
              <a:t>Four verdicts, because there are four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spc="110">
                <a:solidFill>
                  <a:srgbClr val="2C5F4E"/>
                </a:solidFill>
                <a:latin typeface="Segoe UI"/>
              </a:rPr>
              <a:t>COVERED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075688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4203A"/>
                </a:solidFill>
                <a:latin typeface="Segoe UI"/>
              </a:rPr>
              <a:t>a document in your library answers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505456"/>
            <a:ext cx="10454335" cy="9144"/>
          </a:xfrm>
          <a:prstGeom prst="rect">
            <a:avLst/>
          </a:prstGeom>
          <a:solidFill>
            <a:srgbClr val="CC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61487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spc="110">
                <a:solidFill>
                  <a:srgbClr val="A8243B"/>
                </a:solidFill>
                <a:latin typeface="Segoe UI"/>
              </a:rPr>
              <a:t>MISSING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73405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4203A"/>
                </a:solidFill>
                <a:latin typeface="Segoe UI"/>
              </a:rPr>
              <a:t>nothing does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163823"/>
            <a:ext cx="10454335" cy="9144"/>
          </a:xfrm>
          <a:prstGeom prst="rect">
            <a:avLst/>
          </a:prstGeom>
          <a:solidFill>
            <a:srgbClr val="CC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419855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spc="110">
                <a:solidFill>
                  <a:srgbClr val="A8243B"/>
                </a:solidFill>
                <a:latin typeface="Segoe UI"/>
              </a:rPr>
              <a:t>EXPIRES TOO SOON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392423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4203A"/>
                </a:solidFill>
                <a:latin typeface="Segoe UI"/>
              </a:rPr>
              <a:t>it answers today, and not on the submission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822191"/>
            <a:ext cx="10454335" cy="9144"/>
          </a:xfrm>
          <a:prstGeom prst="rect">
            <a:avLst/>
          </a:prstGeom>
          <a:solidFill>
            <a:srgbClr val="CC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78223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spc="110">
                <a:solidFill>
                  <a:srgbClr val="7D5C12"/>
                </a:solidFill>
                <a:latin typeface="Segoe UI"/>
              </a:rPr>
              <a:t>TO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050791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4203A"/>
                </a:solidFill>
                <a:latin typeface="Segoe UI"/>
              </a:rPr>
              <a:t>a human has to look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480559"/>
            <a:ext cx="10454335" cy="9144"/>
          </a:xfrm>
          <a:prstGeom prst="rect">
            <a:avLst/>
          </a:prstGeom>
          <a:solidFill>
            <a:srgbClr val="CC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56631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14203A"/>
                </a:solidFill>
                <a:latin typeface="Segoe UI"/>
              </a:rPr>
              <a:t>And two counts rather than one.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5B6880"/>
                </a:solidFill>
                <a:latin typeface="Segoe UI"/>
              </a:rPr>
              <a:t>An incomplete candidature is eliminated. An irregular offre may be invited to correct itself. The same missing paper ends the bid in one case and is recoverable in the other — so one number would tell the reader to treat them alike, which is wrong in both directions.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960120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16152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4203A"/>
                </a:solidFill>
                <a:latin typeface="Segoe UI"/>
              </a:rPr>
              <a:t>Real files, and one honest fabrication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4203A"/>
                </a:solidFill>
                <a:latin typeface="Segoe UI"/>
              </a:rPr>
              <a:t>rc_ANTAI_2026.pdf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21214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A8243B"/>
                </a:solidFill>
                <a:latin typeface="Segoe UI"/>
              </a:rPr>
              <a:t>French · 34 pages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2112263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5B6880"/>
                </a:solidFill>
                <a:latin typeface="Segoe UI"/>
              </a:rPr>
              <a:t>Ministry of the Interior. 27 pages store part of their text as images.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70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4203A"/>
                </a:solidFill>
                <a:latin typeface="Segoe UI"/>
              </a:rPr>
              <a:t>rc_2026SDCRH05.pdf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68833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A8243B"/>
                </a:solidFill>
                <a:latin typeface="Segoe UI"/>
              </a:rPr>
              <a:t>French · 14 pages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679191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5B6880"/>
                </a:solidFill>
                <a:latin typeface="Segoe UI"/>
              </a:rPr>
              <a:t>DGAC. The negative control: nothing hidden.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369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4203A"/>
                </a:solidFill>
                <a:latin typeface="Segoe UI"/>
              </a:rPr>
              <a:t>itt_EP_COMM_2026.pdf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2552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A8243B"/>
                </a:solidFill>
                <a:latin typeface="Segoe UI"/>
              </a:rPr>
              <a:t>English · 16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46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5B6880"/>
                </a:solidFill>
                <a:latin typeface="Segoe UI"/>
              </a:rPr>
              <a:t>European Parliament. A turnover floor of EUR 175 000.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14203A"/>
                </a:solidFill>
                <a:latin typeface="Segoe UI"/>
              </a:rPr>
              <a:t>itt_EFSA_2023.pdf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822191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A8243B"/>
                </a:solidFill>
                <a:latin typeface="Segoe UI"/>
              </a:rPr>
              <a:t>English · 5 pages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8130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5B6880"/>
                </a:solidFill>
                <a:latin typeface="Segoe UI"/>
              </a:rPr>
              <a:t>EFSA — and one requirement of it is in French.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645152"/>
            <a:ext cx="1045433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0">
                <a:solidFill>
                  <a:srgbClr val="14203A"/>
                </a:solidFill>
                <a:latin typeface="Segoe UI"/>
              </a:rPr>
              <a:t>All four are published by public buyers and downloadable by anyone, without registration.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1">
                <a:solidFill>
                  <a:srgbClr val="A8243B"/>
                </a:solidFill>
                <a:latin typeface="Segoe UI"/>
              </a:rPr>
              <a:t>The evidence library is fabricated, and the repository says so. Publishing which of a real company's certificates have lapsed is not something a demonstration gets to 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651760"/>
            <a:ext cx="146304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104543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▶  Live run — DGAC, French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C9D6E8"/>
                </a:solidFill>
                <a:latin typeface="Georgia"/>
              </a:rPr>
              <a:t>17 s on 2026-09-04. Nothing here is replayed.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66928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5B6880"/>
                </a:solidFill>
                <a:latin typeface="Segoe UI"/>
              </a:rPr>
              <a:t>CUT THIS SLIDE IN THE EDIT — IT MARKS WHERE THE SCREEN RECORDING GOES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651760"/>
            <a:ext cx="146304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1045433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▶  Live run — European Parliament, English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>
                <a:solidFill>
                  <a:srgbClr val="C9D6E8"/>
                </a:solidFill>
                <a:latin typeface="Georgia"/>
              </a:rPr>
              <a:t>Same tool, a tender written in English. Watch for what is not on the screen.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66928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spc="140">
                <a:solidFill>
                  <a:srgbClr val="5B6880"/>
                </a:solidFill>
                <a:latin typeface="Segoe UI"/>
              </a:rPr>
              <a:t>CUT THIS SLIDE IN THE EDIT — IT MARKS WHERE THE SCREEN RECORDING GOES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960120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16152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4203A"/>
                </a:solidFill>
                <a:latin typeface="Segoe UI"/>
              </a:rPr>
              <a:t>What the real files gave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A8243B"/>
                </a:solidFill>
                <a:latin typeface="Segoe UI"/>
              </a:rPr>
              <a:t>−9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2148839"/>
            <a:ext cx="8092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>
                <a:solidFill>
                  <a:srgbClr val="14203A"/>
                </a:solidFill>
                <a:latin typeface="Segoe UI"/>
              </a:rPr>
              <a:t>An insurance certificate valid today and expired on the day bids are due. Nobody catches that by reading — it is a subtraction.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39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A8243B"/>
                </a:solidFill>
                <a:latin typeface="Segoe UI"/>
              </a:rPr>
              <a:t>27 /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3566159"/>
            <a:ext cx="8092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>
                <a:solidFill>
                  <a:srgbClr val="14203A"/>
                </a:solidFill>
                <a:latin typeface="Segoe UI"/>
              </a:rPr>
              <a:t>Pages of the ANTAI file storing part of their text as images. A mandatory declaration, legible on screen, invisible to every extractor tested. So the tool refuses to call anything absent, and names the pages to open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937759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A8243B"/>
                </a:solidFill>
                <a:latin typeface="Segoe UI"/>
              </a:rPr>
              <a:t>1 of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4983479"/>
            <a:ext cx="80924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>
                <a:solidFill>
                  <a:srgbClr val="14203A"/>
                </a:solidFill>
                <a:latin typeface="Segoe UI"/>
              </a:rPr>
              <a:t>Requirements in the “English” EFSA pack that are written in French. Found on the first run of a real document — which is why the language is decided per requirement, not per file.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104543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5B6880"/>
                </a:solidFill>
                <a:latin typeface="Segoe UI"/>
              </a:rPr>
              <a:t>Every count moves between runs. Every quotation, and every verdict computed from it, does not.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566928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4203A"/>
                </a:solidFill>
                <a:latin typeface="Segoe UI"/>
              </a:rPr>
              <a:t>Nothing crosses without being checked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1600200"/>
            <a:ext cx="11338560" cy="45383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960120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16152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4203A"/>
                </a:solidFill>
                <a:latin typeface="Segoe UI"/>
              </a:rPr>
              <a:t>Built with the Strands Agents SDK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700" b="0">
                <a:solidFill>
                  <a:srgbClr val="14203A"/>
                </a:solidFill>
                <a:latin typeface="Segoe UI"/>
              </a:rPr>
              <a:t>Two agents, and four tools they are given: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88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4203A"/>
                </a:solidFill>
                <a:latin typeface="Consolas"/>
              </a:rPr>
              <a:t>@tool  page_text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240" y="2807208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B6880"/>
                </a:solidFill>
                <a:latin typeface="Segoe UI"/>
              </a:rPr>
              <a:t>read a page of the tender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644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4203A"/>
                </a:solidFill>
                <a:latin typeface="Consolas"/>
              </a:rPr>
              <a:t>@tool  quote_is_on_page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282696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B6880"/>
                </a:solidFill>
                <a:latin typeface="Segoe UI"/>
              </a:rPr>
              <a:t>check a wording really appears on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3989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4203A"/>
                </a:solidFill>
                <a:latin typeface="Consolas"/>
              </a:rPr>
              <a:t>@tool  list_documents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3758183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B6880"/>
                </a:solidFill>
                <a:latin typeface="Segoe UI"/>
              </a:rPr>
              <a:t>list the evidence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215383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4203A"/>
                </a:solidFill>
                <a:latin typeface="Consolas"/>
              </a:rPr>
              <a:t>@tool  document_is_in_library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4233671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5B6880"/>
                </a:solidFill>
                <a:latin typeface="Segoe UI"/>
              </a:rPr>
              <a:t>check a name is in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663440"/>
            <a:ext cx="10454335" cy="1600200"/>
          </a:xfrm>
          <a:prstGeom prst="rect">
            <a:avLst/>
          </a:prstGeom>
          <a:solidFill>
            <a:srgbClr val="14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956048"/>
            <a:ext cx="953993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50" b="0">
                <a:solidFill>
                  <a:srgbClr val="C9D6E8"/>
                </a:solidFill>
                <a:latin typeface="Segoe UI"/>
              </a:rPr>
              <a:t>They are the same checks that run afterwards — so the agent can correct a citation before it commits to one.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Segoe UI"/>
              </a:rPr>
              <a:t>But it cannot skip them: a tool it never calls changes nothing, because the verification runs either way.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960120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16152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4203A"/>
                </a:solidFill>
                <a:latin typeface="Segoe UI"/>
              </a:rPr>
              <a:t>Who it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2000" b="0">
                <a:solidFill>
                  <a:srgbClr val="14203A"/>
                </a:solidFill>
                <a:latin typeface="Segoe UI"/>
              </a:rPr>
              <a:t>The person assembling the bid: a small firm without a bid office, a subcontractor, a first-time bidder.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5B6880"/>
                </a:solidFill>
                <a:latin typeface="Segoe UI"/>
              </a:rPr>
              <a:t>The buyer already has this checklist. The bidder does not. Getting it wrong costs a contract that was winnable on the merits — which is why the tool would rather say “check this” than say “covered”.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343400"/>
            <a:ext cx="41148" cy="1371600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900" b="1">
                <a:solidFill>
                  <a:srgbClr val="14203A"/>
                </a:solidFill>
                <a:latin typeface="Segoe UI"/>
              </a:rPr>
              <a:t>It does not write your bid, and it does not tell you that you are compliant.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14203A"/>
                </a:solidFill>
                <a:latin typeface="Segoe UI"/>
              </a:rPr>
              <a:t>It finds the gaps and shows you where to look.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960120"/>
            <a:ext cx="105156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16152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14203A"/>
                </a:solidFill>
                <a:latin typeface="Segoe UI"/>
              </a:rPr>
              <a:t>Recorded, and deliberately not built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2249424"/>
            <a:ext cx="91440" cy="91440"/>
          </a:xfrm>
          <a:prstGeom prst="ellipse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2728" y="2103120"/>
            <a:ext cx="9966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50" b="0">
                <a:solidFill>
                  <a:srgbClr val="14203A"/>
                </a:solidFill>
                <a:latin typeface="Segoe UI"/>
              </a:rPr>
              <a:t>One requirement with several satisfaction paths — « ou, à défaut… » — matching the alternatives rather than only flagging them.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209544"/>
            <a:ext cx="91440" cy="91440"/>
          </a:xfrm>
          <a:prstGeom prst="ellipse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3063239"/>
            <a:ext cx="9966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50" b="0">
                <a:solidFill>
                  <a:srgbClr val="14203A"/>
                </a:solidFill>
                <a:latin typeface="Segoe UI"/>
              </a:rPr>
              <a:t>Requirements the buyer can obtain itself from an official register, and which are legitimately absent from any folder.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69663"/>
            <a:ext cx="91440" cy="91440"/>
          </a:xfrm>
          <a:prstGeom prst="ellipse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4023359"/>
            <a:ext cx="9966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50" b="0">
                <a:solidFill>
                  <a:srgbClr val="14203A"/>
                </a:solidFill>
                <a:latin typeface="Segoe UI"/>
              </a:rPr>
              <a:t>Groups of operators: the document checklist multiplies per member while the capacity thresholds are assessed on the group as a whole.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303519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5B6880"/>
                </a:solidFill>
                <a:latin typeface="Segoe UI"/>
              </a:rPr>
              <a:t>Each one is in samples/real_requirements.json with the sentence that revealed it. Not one was visible from the specification — they came out of reading real documents.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148840"/>
            <a:ext cx="1463040" cy="50292"/>
          </a:xfrm>
          <a:prstGeom prst="rect">
            <a:avLst/>
          </a:prstGeom>
          <a:solidFill>
            <a:srgbClr val="A8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514600"/>
            <a:ext cx="1045433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Public bids are rejected on paperwork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before anyone reads them.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C9D6E8"/>
                </a:solidFill>
                <a:latin typeface="Georgia"/>
              </a:rPr>
              <a:t>This agent finds the gaps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02920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onsolas"/>
              </a:rPr>
              <a:t>github.com/Yoh5/tender-compliance-agent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