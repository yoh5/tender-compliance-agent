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Say what it is before saying why it should exist.</a:t>
            </a:r>
          </a:p>
          <a:p/>
          <a:p>
            <a:r>
              <a:t>"This is a compliance agent for public tenders. You give it the buyer's</a:t>
            </a:r>
          </a:p>
          <a:p>
            <a:r>
              <a:t>consultation file and the list of papers your company holds, and it tells you</a:t>
            </a:r>
          </a:p>
          <a:p>
            <a:r>
              <a:t>what is missing, what expires too soon, and what a human still has to look 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s. The quotation is the strongest thing on the slide because it is not your</a:t>
            </a:r>
          </a:p>
          <a:p>
            <a:r>
              <a:t>claim — it is the buyer's own wording, in the file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Say the rule slowly. It is the thesis of the whole submission, and every</a:t>
            </a:r>
          </a:p>
          <a:p>
            <a:r>
              <a:t>later beat exists to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Do not read the table aloud — it reads itself. Spend the words on the two</a:t>
            </a:r>
          </a:p>
          <a:p>
            <a:r>
              <a:t>piles, which is the part nobody expects.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s. The last sentence buys more credibility than anything else in the video.</a:t>
            </a:r>
          </a:p>
          <a:p>
            <a:r>
              <a:t>Say it, and do not hurry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65 s of screen recording, two runs. `python demo/walkthrough.py` drives both.</a:t>
            </a:r>
          </a:p>
          <a:p/>
          <a:p>
            <a:r>
              <a:t>RUN 1 — DGAC, French, 17 s:</a:t>
            </a:r>
          </a:p>
          <a:p>
            <a:r>
              <a:t>  python -X utf8 -m tender_compliance samples/real_dce/rc_2026SDCRH05.pdf</a:t>
            </a:r>
          </a:p>
          <a:p>
            <a:r>
              <a:t>      --pages 5-6 --today 2026-08-23 --html out/dgac.html</a:t>
            </a:r>
          </a:p>
          <a:p>
            <a:r>
              <a:t>Talk over it. Then open out/dgac.html, stop talking, and let them read the</a:t>
            </a:r>
          </a:p>
          <a:p>
            <a:r>
              <a:t>'-9 d' row. One sentence after: the requirement stays French because the tender</a:t>
            </a:r>
          </a:p>
          <a:p>
            <a:r>
              <a:t>is French and the code checks the quotation against the page it cites — the</a:t>
            </a:r>
          </a:p>
          <a:p>
            <a:r>
              <a:t>English sits beside it, never instead of it.</a:t>
            </a:r>
          </a:p>
          <a:p/>
          <a:p>
            <a:r>
              <a:t>RUN 2 — European Parliament, English, 35 s:</a:t>
            </a:r>
          </a:p>
          <a:p>
            <a:r>
              <a:t>  python -X utf8 -m tender_compliance samples/real_dce/itt_EP_COMM_2026.pdf</a:t>
            </a:r>
          </a:p>
          <a:p>
            <a:r>
              <a:t>      --today 2026-08-23</a:t>
            </a:r>
          </a:p>
          <a:p>
            <a:r>
              <a:t>READ THE BANNER OFF THE SCREEN; the count moves on every run (39 requirements,</a:t>
            </a:r>
          </a:p>
          <a:p>
            <a:r>
              <a:t>8 covered, 31 fatal on 2026-09-04). Then point at what is NOT there: no</a:t>
            </a:r>
          </a:p>
          <a:p>
            <a:r>
              <a:t>translation lines anywhere. The tool worked out that this document needs none.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s. If ANTAI is not in your take, drop its line and keep the other two. The</a:t>
            </a:r>
          </a:p>
          <a:p>
            <a:r>
              <a:t>EFSA one is the most surprising and the cheapest to say.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s, over the diagram. This slide answers judging criterion 1.</a:t>
            </a:r>
          </a:p>
          <a:p/>
          <a:p>
            <a:r>
              <a:t>"Two bands. The model proposes on top, twice — the obligations in the text, then</a:t>
            </a:r>
          </a:p>
          <a:p>
            <a:r>
              <a:t>which document might answer each one. It decides nothing. Everything below is</a:t>
            </a:r>
          </a:p>
          <a:p>
            <a:r>
              <a:t>deterministic. A quote that is not on the page it cites is rejected, with a</a:t>
            </a:r>
          </a:p>
          <a:p>
            <a:r>
              <a:t>reason. A document that is not in the library, verbatim, is not a match. Dates</a:t>
            </a:r>
          </a:p>
          <a:p>
            <a:r>
              <a:t>and thresholds are arithmetic and never reach the model at all."</a:t>
            </a:r>
          </a:p>
          <a:p/>
          <a:p>
            <a:r>
              <a:t>Then the tools, off the strip at the bottom. If ten seconds are spare: "the</a:t>
            </a:r>
          </a:p>
          <a:p>
            <a:r>
              <a:t>English translation is the one thing on the page a model wrote and nothing</a:t>
            </a:r>
          </a:p>
          <a:p>
            <a:r>
              <a:t>verified — so it is the one thing that decides nothing."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s. Saying plainly what it does not do reads as confidence, not as a caveat.</a:t>
            </a:r>
          </a:p>
          <a:p>
            <a:r>
              <a:t>Do not soften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s. First slide to cut if you are over time — it is in the Devpost text and in</a:t>
            </a:r>
          </a:p>
          <a:p>
            <a:r>
              <a:t>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s. Leave the URL on screen for a beat after you stop talking, then end. No</a:t>
            </a:r>
          </a:p>
          <a:p>
            <a:r>
              <a:t>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286000"/>
            <a:ext cx="146304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51760"/>
            <a:ext cx="1045433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Tender Compliance Agent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300" b="0">
                <a:solidFill>
                  <a:srgbClr val="C9D6E8"/>
                </a:solidFill>
                <a:latin typeface="Georgia"/>
              </a:rPr>
              <a:t>Public bids are rejected on paperwork before anyone reads them.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300" b="0">
                <a:solidFill>
                  <a:srgbClr val="C9D6E8"/>
                </a:solidFill>
                <a:latin typeface="Georgia"/>
              </a:rPr>
              <a:t>This agent finds the gaps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532120"/>
            <a:ext cx="104543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spc="160">
                <a:solidFill>
                  <a:srgbClr val="5B6880"/>
                </a:solidFill>
                <a:latin typeface="Segoe UI"/>
              </a:rPr>
              <a:t>AGENTS FOR HUMANS  ·  PROFESSIONAL AGENTS TRACK  ·  BUILT WITH THE STRANDS AGENTS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A bid dies on the paperwork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4600" b="1">
                <a:solidFill>
                  <a:srgbClr val="14203A"/>
                </a:solidFill>
                <a:latin typeface="Segoe UI"/>
              </a:rPr>
              <a:t>€100 bn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5B6880"/>
                </a:solidFill>
                <a:latin typeface="Segoe UI"/>
              </a:rPr>
              <a:t>of French public contracts a year, roughly — and a bid can be thrown out before anyone reads it. Not on price. Not on technique. Because an attestation expired three days before the deadline, or a form was missing.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11679"/>
            <a:ext cx="49377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C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242316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600" b="0">
                <a:solidFill>
                  <a:srgbClr val="14203A"/>
                </a:solidFill>
                <a:latin typeface="Georgia"/>
              </a:rPr>
              <a:t>« Les candidatures incomplètes ou demeurées incomplètes à la suite d'une demande de compléments sont éliminées. »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spc="120">
                <a:solidFill>
                  <a:srgbClr val="A8243B"/>
                </a:solidFill>
                <a:latin typeface="Segoe UI"/>
              </a:rPr>
              <a:t>RÈGLEMENT DE LA CONSULTATION — ANTAI, ARTICLE IV.9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045433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1">
                <a:solidFill>
                  <a:srgbClr val="14203A"/>
                </a:solidFill>
                <a:latin typeface="Segoe UI"/>
              </a:rPr>
              <a:t>The buyer has that checklist. The bidder does not.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B6880"/>
                </a:solidFill>
                <a:latin typeface="Segoe UI"/>
              </a:rPr>
              <a:t>A small firm without a bid office is assembling forty documents across several open tenders, from a folder nobody has re-read since the last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A Professional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2000" b="0">
                <a:solidFill>
                  <a:srgbClr val="14203A"/>
                </a:solidFill>
                <a:latin typeface="Segoe UI"/>
              </a:rPr>
              <a:t>It does one job inside somebody's working day: the person assembling a bid, before they submit it.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5B6880"/>
                </a:solidFill>
                <a:latin typeface="Segoe UI"/>
              </a:rPr>
              <a:t>Not an assistant, and it does not chat. It reads a document, checks every claim against it, and produces a compliance matrix.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023360"/>
            <a:ext cx="10454335" cy="1463040"/>
          </a:xfrm>
          <a:prstGeom prst="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453128"/>
            <a:ext cx="10454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model observes.  The code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7150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880"/>
                </a:solidFill>
                <a:latin typeface="Segoe UI"/>
              </a:rPr>
              <a:t>Everything after this slide is a proof of that one sentence.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Four verdicts, because there are four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79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10">
                <a:solidFill>
                  <a:srgbClr val="2C5F4E"/>
                </a:solidFill>
                <a:latin typeface="Segoe UI"/>
              </a:rPr>
              <a:t>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03703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a document in your library answers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679191"/>
            <a:ext cx="10454335" cy="9144"/>
          </a:xfrm>
          <a:prstGeom prst="rect">
            <a:avLst/>
          </a:prstGeom>
          <a:solidFill>
            <a:srgbClr val="CC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53511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10">
                <a:solidFill>
                  <a:srgbClr val="A8243B"/>
                </a:solidFill>
                <a:latin typeface="Segoe UI"/>
              </a:rPr>
              <a:t>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16935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nothing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92423"/>
            <a:ext cx="10454335" cy="9144"/>
          </a:xfrm>
          <a:prstGeom prst="rect">
            <a:avLst/>
          </a:prstGeom>
          <a:solidFill>
            <a:srgbClr val="CC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66674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10">
                <a:solidFill>
                  <a:srgbClr val="A8243B"/>
                </a:solidFill>
                <a:latin typeface="Segoe UI"/>
              </a:rPr>
              <a:t>EXPIRES TOO SOON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30168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it answers today, and not on the submission 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105656"/>
            <a:ext cx="10454335" cy="9144"/>
          </a:xfrm>
          <a:prstGeom prst="rect">
            <a:avLst/>
          </a:prstGeom>
          <a:solidFill>
            <a:srgbClr val="CC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spc="110">
                <a:solidFill>
                  <a:srgbClr val="7D5C12"/>
                </a:solidFill>
                <a:latin typeface="Segoe UI"/>
              </a:rPr>
              <a:t>TO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34340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a human has to look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818888"/>
            <a:ext cx="10454335" cy="9144"/>
          </a:xfrm>
          <a:prstGeom prst="rect">
            <a:avLst/>
          </a:prstGeom>
          <a:solidFill>
            <a:srgbClr val="CC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04688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1">
                <a:solidFill>
                  <a:srgbClr val="14203A"/>
                </a:solidFill>
                <a:latin typeface="Segoe UI"/>
              </a:rPr>
              <a:t>And two counts, not one: an incomplete candidature is eliminated, an irregular offre may be invited to correct itself.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B6880"/>
                </a:solidFill>
                <a:latin typeface="Segoe UI"/>
              </a:rPr>
              <a:t>The same missing paper ends the bid in one case and is recoverable in the 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Real files, and one honest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203A"/>
                </a:solidFill>
                <a:latin typeface="Segoe UI"/>
              </a:rPr>
              <a:t>rc_ANTAI_2026.pdf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222199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A8243B"/>
                </a:solidFill>
                <a:latin typeface="Segoe UI"/>
              </a:rPr>
              <a:t>French · 34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21284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880"/>
                </a:solidFill>
                <a:latin typeface="Segoe UI"/>
              </a:rPr>
              <a:t>Ministry of the Interior. 27 pages store part of their text as images.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16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203A"/>
                </a:solidFill>
                <a:latin typeface="Segoe UI"/>
              </a:rPr>
              <a:t>rc_2026SDCRH05.pdf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843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A8243B"/>
                </a:solidFill>
                <a:latin typeface="Segoe UI"/>
              </a:rPr>
              <a:t>French · 14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34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880"/>
                </a:solidFill>
                <a:latin typeface="Segoe UI"/>
              </a:rPr>
              <a:t>DGAC. The negative control: nothing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38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203A"/>
                </a:solidFill>
                <a:latin typeface="Segoe UI"/>
              </a:rPr>
              <a:t>itt_EP_COMM_2026.pdf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6557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A8243B"/>
                </a:solidFill>
                <a:latin typeface="Segoe UI"/>
              </a:rPr>
              <a:t>English · 16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4564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880"/>
                </a:solidFill>
                <a:latin typeface="Segoe UI"/>
              </a:rPr>
              <a:t>European Parliament. A turnover floor of EUR 175 000.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993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4203A"/>
                </a:solidFill>
                <a:latin typeface="Segoe UI"/>
              </a:rPr>
              <a:t>itt_EFSA_2023.pdf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087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A8243B"/>
                </a:solidFill>
                <a:latin typeface="Segoe UI"/>
              </a:rPr>
              <a:t>English · 5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7822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5B6880"/>
                </a:solidFill>
                <a:latin typeface="Segoe UI"/>
              </a:rPr>
              <a:t>EFSA — and one requirement of it is in French.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47488"/>
            <a:ext cx="1045433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500" b="0">
                <a:solidFill>
                  <a:srgbClr val="14203A"/>
                </a:solidFill>
                <a:latin typeface="Segoe UI"/>
              </a:rPr>
              <a:t>All four are published by public buyers and downloadable by anyone, without registration.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1">
                <a:solidFill>
                  <a:srgbClr val="A8243B"/>
                </a:solidFill>
                <a:latin typeface="Segoe UI"/>
              </a:rPr>
              <a:t>The evidence library is fabricated, and the repository says so. Publishing which of a real company's certificates have lapsed is not something a demonstration gets to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48840"/>
            <a:ext cx="146304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514600"/>
            <a:ext cx="1045433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▶  Live, in both languages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900" b="0">
                <a:solidFill>
                  <a:srgbClr val="C9D6E8"/>
                </a:solidFill>
                <a:latin typeface="Georgia"/>
              </a:rPr>
              <a:t>DGAC, French — 17 s.        European Parliament, English — 35 s.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C9D6E8"/>
                </a:solidFill>
                <a:latin typeface="Georgia"/>
              </a:rPr>
              <a:t>Nothing here is replayed.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69280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40">
                <a:solidFill>
                  <a:srgbClr val="5B6880"/>
                </a:solidFill>
                <a:latin typeface="Segoe UI"/>
              </a:rPr>
              <a:t>CUT THIS SLIDE IN THE EDIT — IT MARKS WHERE THE SCREEN RECORDING GOES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What the real files gave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A8243B"/>
                </a:solidFill>
                <a:latin typeface="Segoe UI"/>
              </a:rPr>
              <a:t>−9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2350008"/>
            <a:ext cx="8092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14203A"/>
                </a:solidFill>
                <a:latin typeface="Segoe UI"/>
              </a:rPr>
              <a:t>An insurance certificate valid today and expired on the day bids are due. Nobody catches that by reading — it is a subtraction.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A8243B"/>
                </a:solidFill>
                <a:latin typeface="Segoe UI"/>
              </a:rPr>
              <a:t>27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3721608"/>
            <a:ext cx="8092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14203A"/>
                </a:solidFill>
                <a:latin typeface="Segoe UI"/>
              </a:rPr>
              <a:t>Pages of the ANTAI file storing part of their text as images. So the tool refuses to call anything absent, and names the pages to open by hand.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A8243B"/>
                </a:solidFill>
                <a:latin typeface="Segoe UI"/>
              </a:rPr>
              <a:t>1 of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5093208"/>
            <a:ext cx="80924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14203A"/>
                </a:solidFill>
                <a:latin typeface="Segoe UI"/>
              </a:rPr>
              <a:t>Requirements in the “English” EFSA pack that are written in French — found on the first run of a real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43600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B6880"/>
                </a:solidFill>
                <a:latin typeface="Segoe UI"/>
              </a:rPr>
              <a:t>Every count moves between runs. Every quotation, and every verdict computed from it,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5029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58952"/>
            <a:ext cx="104543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4203A"/>
                </a:solidFill>
                <a:latin typeface="Segoe UI"/>
              </a:rPr>
              <a:t>How it does it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34" y="1417320"/>
            <a:ext cx="10851426" cy="4343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80" y="5897880"/>
            <a:ext cx="10454335" cy="713232"/>
          </a:xfrm>
          <a:prstGeom prst="rect">
            <a:avLst/>
          </a:prstGeom>
          <a:solidFill>
            <a:srgbClr val="14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6016752"/>
            <a:ext cx="97228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Both agents are Strands agents, and both are given tools — page_text, quote_is_on_page, list_documents, document_is_in_library. A tool the agent never calls changes nothing: the verification runs either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2100" b="0">
                <a:solidFill>
                  <a:srgbClr val="14203A"/>
                </a:solidFill>
                <a:latin typeface="Segoe UI"/>
              </a:rPr>
              <a:t>The person assembling the bid: a small firm without a bid office, a subcontractor, a first-time bidder.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50" b="0">
                <a:solidFill>
                  <a:srgbClr val="5B6880"/>
                </a:solidFill>
                <a:latin typeface="Segoe UI"/>
              </a:rPr>
              <a:t>The buyer already has this checklist. The bidder does not. Getting it wrong costs a contract that was winnable on the merits — which is why the tool would rather say “check this” than say “covered”.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480560"/>
            <a:ext cx="41148" cy="1371600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572000"/>
            <a:ext cx="99669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900" b="1">
                <a:solidFill>
                  <a:srgbClr val="14203A"/>
                </a:solidFill>
                <a:latin typeface="Segoe UI"/>
              </a:rPr>
              <a:t>It does not write your bid, and it does not tell you that you are compliant.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>
                <a:solidFill>
                  <a:srgbClr val="14203A"/>
                </a:solidFill>
                <a:latin typeface="Segoe UI"/>
              </a:rPr>
              <a:t>It finds the gaps and shows you where to look.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960120"/>
            <a:ext cx="105156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16152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>
                <a:solidFill>
                  <a:srgbClr val="14203A"/>
                </a:solidFill>
                <a:latin typeface="Segoe UI"/>
              </a:rPr>
              <a:t>Recorded, and deliberately not built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496312"/>
            <a:ext cx="91440" cy="91440"/>
          </a:xfrm>
          <a:prstGeom prst="ellipse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2728" y="233172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One requirement with several satisfaction paths — matching the alternatives rather than only flagging them.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333756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Requirements the buyer can obtain itself from an official register, legitimately absent from any folder.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4343400"/>
            <a:ext cx="9966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4203A"/>
                </a:solidFill>
                <a:latin typeface="Segoe UI"/>
              </a:rPr>
              <a:t>Groups of operators: the checklist multiplies per member while the capacity thresholds are assessed on the group as a whole.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>
                <a:solidFill>
                  <a:srgbClr val="5B6880"/>
                </a:solidFill>
                <a:latin typeface="Segoe UI"/>
              </a:rPr>
              <a:t>Each one is in samples/real_requirements.json with the sentence that revealed it. Not one was visible from the specification — they came out of reading real documents.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48840"/>
            <a:ext cx="1463040" cy="50292"/>
          </a:xfrm>
          <a:prstGeom prst="rect">
            <a:avLst/>
          </a:prstGeom>
          <a:solidFill>
            <a:srgbClr val="A8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514600"/>
            <a:ext cx="104543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Public bids are rejected on paperwork</a:t>
            </a:r>
          </a:p>
          <a:p>
            <a:pPr algn="l">
              <a:lnSpc>
                <a:spcPct val="120000"/>
              </a:lnSpc>
              <a:spcAft>
                <a:spcPts val="18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before anyone reads them.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C9D6E8"/>
                </a:solidFill>
                <a:latin typeface="Georgia"/>
              </a:rPr>
              <a:t>This agent finds the gaps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29200"/>
            <a:ext cx="104543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onsolas"/>
              </a:rPr>
              <a:t>github.com/Yoh5/tender-compliance-agent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